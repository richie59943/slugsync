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Raleway"/>
      <p:regular r:id="rId26"/>
      <p:bold r:id="rId27"/>
      <p:italic r:id="rId28"/>
      <p:boldItalic r:id="rId29"/>
    </p:embeddedFont>
    <p:embeddedFont>
      <p:font typeface="Lat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aleway-regular.fntdata"/><Relationship Id="rId25" Type="http://schemas.openxmlformats.org/officeDocument/2006/relationships/slide" Target="slides/slide20.xml"/><Relationship Id="rId28" Type="http://schemas.openxmlformats.org/officeDocument/2006/relationships/font" Target="fonts/Raleway-italic.fntdata"/><Relationship Id="rId27" Type="http://schemas.openxmlformats.org/officeDocument/2006/relationships/font" Target="fonts/Raleway-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aleway-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bold.fntdata"/><Relationship Id="rId30" Type="http://schemas.openxmlformats.org/officeDocument/2006/relationships/font" Target="fonts/Lato-regular.fntdata"/><Relationship Id="rId11" Type="http://schemas.openxmlformats.org/officeDocument/2006/relationships/slide" Target="slides/slide6.xml"/><Relationship Id="rId33" Type="http://schemas.openxmlformats.org/officeDocument/2006/relationships/font" Target="fonts/Lato-boldItalic.fntdata"/><Relationship Id="rId10" Type="http://schemas.openxmlformats.org/officeDocument/2006/relationships/slide" Target="slides/slide5.xml"/><Relationship Id="rId32" Type="http://schemas.openxmlformats.org/officeDocument/2006/relationships/font" Target="fonts/Lato-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571f3a18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571f3a18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f571f3a18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f571f3a18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Emiliano</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f571f3a181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f571f3a181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f94c0a62f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f94c0a62f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f94c0a62f2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f94c0a62f2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f94c0a62f2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f94c0a62f2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94c0a62f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94c0a62f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f94c0a62f2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f94c0a62f2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f94c0a62f2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f94c0a62f2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f94c0a62f2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f94c0a62f2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f94c0a62f2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f94c0a62f2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f94c0a62f2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f94c0a62f2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f94c0a62f2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f94c0a62f2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f571f3a181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f571f3a181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f571f3a181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f571f3a181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571f3a181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571f3a181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Emiliano</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f571f3a181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f571f3a181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f571f3a181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f571f3a181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f571f3a181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f571f3a18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SlugSync</a:t>
            </a:r>
            <a:endParaRPr/>
          </a:p>
        </p:txBody>
      </p:sp>
      <p:sp>
        <p:nvSpPr>
          <p:cNvPr id="87" name="Google Shape;87;p13"/>
          <p:cNvSpPr txBox="1"/>
          <p:nvPr>
            <p:ph idx="1" type="subTitle"/>
          </p:nvPr>
        </p:nvSpPr>
        <p:spPr>
          <a:xfrm>
            <a:off x="141150" y="2868100"/>
            <a:ext cx="8276400" cy="1591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Jayna-Product Owner</a:t>
            </a:r>
            <a:endParaRPr/>
          </a:p>
          <a:p>
            <a:pPr indent="0" lvl="0" marL="0" rtl="0" algn="l">
              <a:spcBef>
                <a:spcPts val="0"/>
              </a:spcBef>
              <a:spcAft>
                <a:spcPts val="0"/>
              </a:spcAft>
              <a:buNone/>
            </a:pPr>
            <a:r>
              <a:rPr lang="en"/>
              <a:t>Ridhin- Scrum Master (Sprint 3)</a:t>
            </a:r>
            <a:endParaRPr/>
          </a:p>
          <a:p>
            <a:pPr indent="0" lvl="0" marL="0" rtl="0" algn="l">
              <a:spcBef>
                <a:spcPts val="0"/>
              </a:spcBef>
              <a:spcAft>
                <a:spcPts val="0"/>
              </a:spcAft>
              <a:buNone/>
            </a:pPr>
            <a:r>
              <a:rPr lang="en"/>
              <a:t>Ricardo-Developer</a:t>
            </a:r>
            <a:endParaRPr/>
          </a:p>
          <a:p>
            <a:pPr indent="0" lvl="0" marL="0" rtl="0" algn="l">
              <a:spcBef>
                <a:spcPts val="0"/>
              </a:spcBef>
              <a:spcAft>
                <a:spcPts val="0"/>
              </a:spcAft>
              <a:buNone/>
            </a:pPr>
            <a:r>
              <a:rPr lang="en"/>
              <a:t>Emiliano- Scrum Master(Sprint 1)</a:t>
            </a:r>
            <a:endParaRPr/>
          </a:p>
          <a:p>
            <a:pPr indent="0" lvl="0" marL="0" rtl="0" algn="l">
              <a:spcBef>
                <a:spcPts val="0"/>
              </a:spcBef>
              <a:spcAft>
                <a:spcPts val="0"/>
              </a:spcAft>
              <a:buNone/>
            </a:pPr>
            <a:r>
              <a:rPr lang="en"/>
              <a:t>Kevin-Scrum Master(Sprint 2)</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Brief introduction into problem/application domain</a:t>
            </a:r>
            <a:endParaRPr/>
          </a:p>
        </p:txBody>
      </p:sp>
      <p:sp>
        <p:nvSpPr>
          <p:cNvPr id="93" name="Google Shape;93;p1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Clr>
                <a:schemeClr val="dk1"/>
              </a:buClr>
              <a:buSzPct val="84615"/>
              <a:buFont typeface="Arial"/>
              <a:buNone/>
            </a:pPr>
            <a:r>
              <a:rPr lang="en"/>
              <a:t>– What motivated your choice of project</a:t>
            </a:r>
            <a:endParaRPr/>
          </a:p>
          <a:p>
            <a:pPr indent="0" lvl="0" marL="0" rtl="0" algn="l">
              <a:spcBef>
                <a:spcPts val="1200"/>
              </a:spcBef>
              <a:spcAft>
                <a:spcPts val="0"/>
              </a:spcAft>
              <a:buClr>
                <a:schemeClr val="dk1"/>
              </a:buClr>
              <a:buSzPct val="84615"/>
              <a:buFont typeface="Arial"/>
              <a:buNone/>
            </a:pPr>
            <a:r>
              <a:rPr lang="en"/>
              <a:t>Our Project is a application that helps students discover and track campus and local events in one place. The app collects and </a:t>
            </a:r>
            <a:r>
              <a:rPr lang="en"/>
              <a:t>organizes</a:t>
            </a:r>
            <a:r>
              <a:rPr lang="en"/>
              <a:t> events from websites students care about, with a primary focus on the UCSC events page. We also planned to support instagram and Discord servers as event sources, but thoise </a:t>
            </a:r>
            <a:r>
              <a:rPr lang="en"/>
              <a:t>integrations</a:t>
            </a:r>
            <a:r>
              <a:rPr lang="en"/>
              <a:t> were outside the scope of this </a:t>
            </a:r>
            <a:r>
              <a:rPr lang="en"/>
              <a:t>initial</a:t>
            </a:r>
            <a:r>
              <a:rPr lang="en"/>
              <a:t> project.</a:t>
            </a:r>
            <a:endParaRPr/>
          </a:p>
          <a:p>
            <a:pPr indent="0" lvl="0" marL="0" rtl="0" algn="l">
              <a:spcBef>
                <a:spcPts val="1200"/>
              </a:spcBef>
              <a:spcAft>
                <a:spcPts val="0"/>
              </a:spcAft>
              <a:buClr>
                <a:schemeClr val="dk1"/>
              </a:buClr>
              <a:buSzPct val="84615"/>
              <a:buFont typeface="Arial"/>
              <a:buNone/>
            </a:pPr>
            <a:r>
              <a:rPr lang="en"/>
              <a:t>Intended Users</a:t>
            </a:r>
            <a:endParaRPr/>
          </a:p>
          <a:p>
            <a:pPr indent="-280194" lvl="0" marL="457200" rtl="0" algn="l">
              <a:spcBef>
                <a:spcPts val="1200"/>
              </a:spcBef>
              <a:spcAft>
                <a:spcPts val="0"/>
              </a:spcAft>
              <a:buSzPct val="100000"/>
              <a:buChar char="-"/>
            </a:pPr>
            <a:r>
              <a:rPr lang="en"/>
              <a:t>UCSC students looking to discover and </a:t>
            </a:r>
            <a:r>
              <a:rPr lang="en"/>
              <a:t>organize</a:t>
            </a:r>
            <a:r>
              <a:rPr lang="en"/>
              <a:t> campus and local events </a:t>
            </a:r>
            <a:endParaRPr/>
          </a:p>
          <a:p>
            <a:pPr indent="-280194" lvl="0" marL="457200" rtl="0" algn="l">
              <a:spcBef>
                <a:spcPts val="0"/>
              </a:spcBef>
              <a:spcAft>
                <a:spcPts val="0"/>
              </a:spcAft>
              <a:buSzPct val="100000"/>
              <a:buChar char="-"/>
            </a:pPr>
            <a:r>
              <a:rPr lang="en"/>
              <a:t>Students who want one place to </a:t>
            </a:r>
            <a:r>
              <a:rPr lang="en"/>
              <a:t>view</a:t>
            </a:r>
            <a:r>
              <a:rPr lang="en"/>
              <a:t> all events from multiple sources.</a:t>
            </a:r>
            <a:endParaRPr/>
          </a:p>
          <a:p>
            <a:pPr indent="0" lvl="0" marL="0" rtl="0" algn="l">
              <a:spcBef>
                <a:spcPts val="1200"/>
              </a:spcBef>
              <a:spcAft>
                <a:spcPts val="0"/>
              </a:spcAft>
              <a:buNone/>
            </a:pPr>
            <a:r>
              <a:rPr lang="en"/>
              <a:t>Problem / Opportunity Addressed</a:t>
            </a:r>
            <a:endParaRPr/>
          </a:p>
          <a:p>
            <a:pPr indent="-280194" lvl="0" marL="457200" rtl="0" algn="l">
              <a:spcBef>
                <a:spcPts val="1200"/>
              </a:spcBef>
              <a:spcAft>
                <a:spcPts val="0"/>
              </a:spcAft>
              <a:buSzPct val="100000"/>
              <a:buChar char="-"/>
            </a:pPr>
            <a:r>
              <a:rPr lang="en"/>
              <a:t>Event information is scattered across university websites and other online platforms, making events easy to miss and not </a:t>
            </a:r>
            <a:r>
              <a:rPr lang="en"/>
              <a:t>attend</a:t>
            </a:r>
            <a:endParaRPr/>
          </a:p>
          <a:p>
            <a:pPr indent="-280194" lvl="0" marL="457200" rtl="0" algn="l">
              <a:spcBef>
                <a:spcPts val="0"/>
              </a:spcBef>
              <a:spcAft>
                <a:spcPts val="0"/>
              </a:spcAft>
              <a:buSzPct val="100000"/>
              <a:buChar char="-"/>
            </a:pPr>
            <a:r>
              <a:rPr lang="en"/>
              <a:t>Our app centralizes events into a single </a:t>
            </a:r>
            <a:r>
              <a:rPr lang="en"/>
              <a:t>calendar</a:t>
            </a:r>
            <a:r>
              <a:rPr lang="en"/>
              <a:t> by collecting information from websites students care about, making it much easier to discover and attend events.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Goals</a:t>
            </a:r>
            <a:endParaRPr/>
          </a:p>
        </p:txBody>
      </p:sp>
      <p:sp>
        <p:nvSpPr>
          <p:cNvPr id="99" name="Google Shape;99;p15"/>
          <p:cNvSpPr txBox="1"/>
          <p:nvPr>
            <p:ph idx="1" type="body"/>
          </p:nvPr>
        </p:nvSpPr>
        <p:spPr>
          <a:xfrm>
            <a:off x="182600" y="1899150"/>
            <a:ext cx="8310600" cy="2261100"/>
          </a:xfrm>
          <a:prstGeom prst="rect">
            <a:avLst/>
          </a:prstGeom>
        </p:spPr>
        <p:txBody>
          <a:bodyPr anchorCtr="0" anchor="t" bIns="91425" lIns="91425" spcFirstLastPara="1" rIns="91425" wrap="square" tIns="91425">
            <a:normAutofit/>
          </a:bodyPr>
          <a:lstStyle/>
          <a:p>
            <a:pPr indent="-317500" lvl="0" marL="457200" rtl="0" algn="l">
              <a:lnSpc>
                <a:spcPct val="100000"/>
              </a:lnSpc>
              <a:spcBef>
                <a:spcPts val="0"/>
              </a:spcBef>
              <a:spcAft>
                <a:spcPts val="0"/>
              </a:spcAft>
              <a:buClr>
                <a:srgbClr val="000000"/>
              </a:buClr>
              <a:buSzPts val="1400"/>
              <a:buFont typeface="Times New Roman"/>
              <a:buAutoNum type="arabicPeriod"/>
            </a:pPr>
            <a:r>
              <a:rPr lang="en" sz="1400">
                <a:solidFill>
                  <a:srgbClr val="000000"/>
                </a:solidFill>
                <a:latin typeface="Times New Roman"/>
                <a:ea typeface="Times New Roman"/>
                <a:cs typeface="Times New Roman"/>
                <a:sym typeface="Times New Roman"/>
              </a:rPr>
              <a:t>Have a dashboard where you can see all your personal events as well as browse events in your area. Also being able to post events to this dashboard which can be seen by others </a:t>
            </a:r>
            <a:endParaRPr sz="1400">
              <a:solidFill>
                <a:srgbClr val="000000"/>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rgbClr val="000000"/>
              </a:buClr>
              <a:buSzPts val="1400"/>
              <a:buFont typeface="Times New Roman"/>
              <a:buAutoNum type="arabicPeriod"/>
            </a:pPr>
            <a:r>
              <a:rPr lang="en" sz="1400">
                <a:solidFill>
                  <a:srgbClr val="000000"/>
                </a:solidFill>
                <a:latin typeface="Times New Roman"/>
                <a:ea typeface="Times New Roman"/>
                <a:cs typeface="Times New Roman"/>
                <a:sym typeface="Times New Roman"/>
              </a:rPr>
              <a:t>Have a calendar that is managed by your AI assistant but can also be manually edited</a:t>
            </a:r>
            <a:endParaRPr sz="1400">
              <a:solidFill>
                <a:srgbClr val="000000"/>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rgbClr val="000000"/>
              </a:buClr>
              <a:buSzPts val="1400"/>
              <a:buFont typeface="Times New Roman"/>
              <a:buAutoNum type="arabicPeriod"/>
            </a:pPr>
            <a:r>
              <a:rPr lang="en" sz="1400">
                <a:solidFill>
                  <a:srgbClr val="000000"/>
                </a:solidFill>
                <a:latin typeface="Times New Roman"/>
                <a:ea typeface="Times New Roman"/>
                <a:cs typeface="Times New Roman"/>
                <a:sym typeface="Times New Roman"/>
              </a:rPr>
              <a:t>Get a daily digest of your schedule and potential events from your AI assistant catered to personal interest </a:t>
            </a:r>
            <a:endParaRPr sz="1400">
              <a:solidFill>
                <a:srgbClr val="000000"/>
              </a:solidFill>
              <a:latin typeface="Times New Roman"/>
              <a:ea typeface="Times New Roman"/>
              <a:cs typeface="Times New Roman"/>
              <a:sym typeface="Times New Roman"/>
            </a:endParaRPr>
          </a:p>
          <a:p>
            <a:pPr indent="-317500" lvl="0" marL="457200" rtl="0" algn="l">
              <a:lnSpc>
                <a:spcPct val="100000"/>
              </a:lnSpc>
              <a:spcBef>
                <a:spcPts val="0"/>
              </a:spcBef>
              <a:spcAft>
                <a:spcPts val="0"/>
              </a:spcAft>
              <a:buClr>
                <a:srgbClr val="000000"/>
              </a:buClr>
              <a:buSzPts val="1400"/>
              <a:buFont typeface="Times New Roman"/>
              <a:buAutoNum type="arabicPeriod"/>
            </a:pPr>
            <a:r>
              <a:rPr lang="en" sz="1400">
                <a:solidFill>
                  <a:srgbClr val="000000"/>
                </a:solidFill>
                <a:latin typeface="Times New Roman"/>
                <a:ea typeface="Times New Roman"/>
                <a:cs typeface="Times New Roman"/>
                <a:sym typeface="Times New Roman"/>
              </a:rPr>
              <a:t>Page where you can view your friends and see their calendars as well as a ‘Group Calendar’ which will be a shared calendar for you and your friends </a:t>
            </a:r>
            <a:endParaRPr sz="1400">
              <a:solidFill>
                <a:srgbClr val="000000"/>
              </a:solidFill>
              <a:latin typeface="Times New Roman"/>
              <a:ea typeface="Times New Roman"/>
              <a:cs typeface="Times New Roman"/>
              <a:sym typeface="Times New Roman"/>
            </a:endParaRPr>
          </a:p>
          <a:p>
            <a:pPr indent="0" lvl="0" marL="0" marR="127065" rtl="0" algn="l">
              <a:lnSpc>
                <a:spcPct val="86788"/>
              </a:lnSpc>
              <a:spcBef>
                <a:spcPts val="0"/>
              </a:spcBef>
              <a:spcAft>
                <a:spcPts val="0"/>
              </a:spcAft>
              <a:buNone/>
            </a:pPr>
            <a:r>
              <a:t/>
            </a:r>
            <a:endParaRPr sz="1400">
              <a:solidFill>
                <a:srgbClr val="000000"/>
              </a:solidFill>
              <a:latin typeface="Times New Roman"/>
              <a:ea typeface="Times New Roman"/>
              <a:cs typeface="Times New Roman"/>
              <a:sym typeface="Times New Roman"/>
            </a:endParaRPr>
          </a:p>
          <a:p>
            <a:pPr indent="0" lvl="0" marL="0" marR="127065" rtl="0" algn="l">
              <a:lnSpc>
                <a:spcPct val="86788"/>
              </a:lnSpc>
              <a:spcBef>
                <a:spcPts val="0"/>
              </a:spcBef>
              <a:spcAft>
                <a:spcPts val="0"/>
              </a:spcAft>
              <a:buNone/>
            </a:pPr>
            <a:r>
              <a:rPr lang="en" sz="1400">
                <a:solidFill>
                  <a:srgbClr val="000000"/>
                </a:solidFill>
                <a:latin typeface="Times New Roman"/>
                <a:ea typeface="Times New Roman"/>
                <a:cs typeface="Times New Roman"/>
                <a:sym typeface="Times New Roman"/>
              </a:rPr>
              <a:t>We set these high level goals in the release plan and we achieved them all!</a:t>
            </a:r>
            <a:endParaRPr/>
          </a:p>
          <a:p>
            <a:pPr indent="0" lvl="0" marL="0" rtl="0" algn="l">
              <a:spcBef>
                <a:spcPts val="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1845325" y="1799475"/>
            <a:ext cx="5373000" cy="164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7500"/>
              <a:t>Live Demo!</a:t>
            </a:r>
            <a:endParaRPr sz="7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p17" title="Screenshot 2026-07-21 at 6.32.55 PM.png"/>
          <p:cNvPicPr preferRelativeResize="0"/>
          <p:nvPr/>
        </p:nvPicPr>
        <p:blipFill>
          <a:blip r:embed="rId3">
            <a:alphaModFix/>
          </a:blip>
          <a:stretch>
            <a:fillRect/>
          </a:stretch>
        </p:blipFill>
        <p:spPr>
          <a:xfrm>
            <a:off x="578025" y="548050"/>
            <a:ext cx="7987973" cy="45400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id="114" name="Google Shape;114;p18" title="Screenshot 2026-07-21 at 6.35.52 PM.png"/>
          <p:cNvPicPr preferRelativeResize="0"/>
          <p:nvPr/>
        </p:nvPicPr>
        <p:blipFill>
          <a:blip r:embed="rId3">
            <a:alphaModFix/>
          </a:blip>
          <a:stretch>
            <a:fillRect/>
          </a:stretch>
        </p:blipFill>
        <p:spPr>
          <a:xfrm>
            <a:off x="854700" y="667400"/>
            <a:ext cx="7315200" cy="4382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19" title="Screenshot 2026-07-21 at 6.45.15 PM.png"/>
          <p:cNvPicPr preferRelativeResize="0"/>
          <p:nvPr/>
        </p:nvPicPr>
        <p:blipFill>
          <a:blip r:embed="rId3">
            <a:alphaModFix/>
          </a:blip>
          <a:stretch>
            <a:fillRect/>
          </a:stretch>
        </p:blipFill>
        <p:spPr>
          <a:xfrm>
            <a:off x="1212901" y="640575"/>
            <a:ext cx="6388977" cy="442672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0" title="Screenshot 2026-07-21 at 6.31.53 PM.png"/>
          <p:cNvPicPr preferRelativeResize="0"/>
          <p:nvPr/>
        </p:nvPicPr>
        <p:blipFill>
          <a:blip r:embed="rId3">
            <a:alphaModFix/>
          </a:blip>
          <a:stretch>
            <a:fillRect/>
          </a:stretch>
        </p:blipFill>
        <p:spPr>
          <a:xfrm>
            <a:off x="930950" y="520225"/>
            <a:ext cx="7393172" cy="45124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21" title="Screenshot 2026-07-21 at 6.46.36 PM.png"/>
          <p:cNvPicPr preferRelativeResize="0"/>
          <p:nvPr/>
        </p:nvPicPr>
        <p:blipFill>
          <a:blip r:embed="rId3">
            <a:alphaModFix/>
          </a:blip>
          <a:stretch>
            <a:fillRect/>
          </a:stretch>
        </p:blipFill>
        <p:spPr>
          <a:xfrm>
            <a:off x="896577" y="651675"/>
            <a:ext cx="7253852" cy="43707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id="134" name="Google Shape;134;p22" title="Screenshot 2026-07-21 at 6.40.03 PM.png"/>
          <p:cNvPicPr preferRelativeResize="0"/>
          <p:nvPr/>
        </p:nvPicPr>
        <p:blipFill>
          <a:blip r:embed="rId3">
            <a:alphaModFix/>
          </a:blip>
          <a:stretch>
            <a:fillRect/>
          </a:stretch>
        </p:blipFill>
        <p:spPr>
          <a:xfrm>
            <a:off x="868525" y="524850"/>
            <a:ext cx="7331676" cy="45285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23" title="Screenshot 2026-07-21 at 6.41.18 PM.png"/>
          <p:cNvPicPr preferRelativeResize="0"/>
          <p:nvPr/>
        </p:nvPicPr>
        <p:blipFill>
          <a:blip r:embed="rId3">
            <a:alphaModFix/>
          </a:blip>
          <a:stretch>
            <a:fillRect/>
          </a:stretch>
        </p:blipFill>
        <p:spPr>
          <a:xfrm>
            <a:off x="879775" y="541325"/>
            <a:ext cx="7304003" cy="45329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id="144" name="Google Shape;144;p24" title="Screenshot 2026-07-21 at 6.42.59 PM.png"/>
          <p:cNvPicPr preferRelativeResize="0"/>
          <p:nvPr/>
        </p:nvPicPr>
        <p:blipFill>
          <a:blip r:embed="rId3">
            <a:alphaModFix/>
          </a:blip>
          <a:stretch>
            <a:fillRect/>
          </a:stretch>
        </p:blipFill>
        <p:spPr>
          <a:xfrm>
            <a:off x="480125" y="564125"/>
            <a:ext cx="8183752" cy="457937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id="149" name="Google Shape;149;p25" title="Screenshot 2026-07-21 at 6.44.22 PM.png"/>
          <p:cNvPicPr preferRelativeResize="0"/>
          <p:nvPr/>
        </p:nvPicPr>
        <p:blipFill>
          <a:blip r:embed="rId3">
            <a:alphaModFix/>
          </a:blip>
          <a:stretch>
            <a:fillRect/>
          </a:stretch>
        </p:blipFill>
        <p:spPr>
          <a:xfrm>
            <a:off x="1238925" y="520550"/>
            <a:ext cx="6480701" cy="44428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id="154" name="Google Shape;154;p26" title="Screenshot 2026-07-21 at 6.46.03 PM.png"/>
          <p:cNvPicPr preferRelativeResize="0"/>
          <p:nvPr/>
        </p:nvPicPr>
        <p:blipFill>
          <a:blip r:embed="rId3">
            <a:alphaModFix/>
          </a:blip>
          <a:stretch>
            <a:fillRect/>
          </a:stretch>
        </p:blipFill>
        <p:spPr>
          <a:xfrm>
            <a:off x="558700" y="511000"/>
            <a:ext cx="7901901" cy="45875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id="159" name="Google Shape;159;p27"/>
          <p:cNvPicPr preferRelativeResize="0"/>
          <p:nvPr/>
        </p:nvPicPr>
        <p:blipFill>
          <a:blip r:embed="rId3">
            <a:alphaModFix/>
          </a:blip>
          <a:stretch>
            <a:fillRect/>
          </a:stretch>
        </p:blipFill>
        <p:spPr>
          <a:xfrm>
            <a:off x="744900" y="903900"/>
            <a:ext cx="7882074" cy="4064700"/>
          </a:xfrm>
          <a:prstGeom prst="rect">
            <a:avLst/>
          </a:prstGeom>
          <a:noFill/>
          <a:ln>
            <a:noFill/>
          </a:ln>
        </p:spPr>
      </p:pic>
      <p:sp>
        <p:nvSpPr>
          <p:cNvPr id="160" name="Google Shape;160;p27"/>
          <p:cNvSpPr txBox="1"/>
          <p:nvPr>
            <p:ph type="title"/>
          </p:nvPr>
        </p:nvSpPr>
        <p:spPr>
          <a:xfrm>
            <a:off x="391950" y="5461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overview/diagram</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8"/>
          <p:cNvSpPr txBox="1"/>
          <p:nvPr>
            <p:ph type="title"/>
          </p:nvPr>
        </p:nvSpPr>
        <p:spPr>
          <a:xfrm>
            <a:off x="236475" y="5774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Technologies you used and what you used them for</a:t>
            </a:r>
            <a:endParaRPr/>
          </a:p>
        </p:txBody>
      </p:sp>
      <p:sp>
        <p:nvSpPr>
          <p:cNvPr id="166" name="Google Shape;166;p28"/>
          <p:cNvSpPr txBox="1"/>
          <p:nvPr>
            <p:ph idx="1" type="body"/>
          </p:nvPr>
        </p:nvSpPr>
        <p:spPr>
          <a:xfrm>
            <a:off x="182750" y="1286850"/>
            <a:ext cx="8598300" cy="32610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Clr>
                <a:schemeClr val="dk1"/>
              </a:buClr>
              <a:buSzPct val="84615"/>
              <a:buFont typeface="Arial"/>
              <a:buNone/>
            </a:pPr>
            <a:r>
              <a:rPr b="1" lang="en"/>
              <a:t>Frontend:</a:t>
            </a:r>
            <a:r>
              <a:rPr lang="en"/>
              <a:t> </a:t>
            </a:r>
            <a:endParaRPr/>
          </a:p>
          <a:p>
            <a:pPr indent="-304959" lvl="0" marL="457200" rtl="0" algn="l">
              <a:spcBef>
                <a:spcPts val="1200"/>
              </a:spcBef>
              <a:spcAft>
                <a:spcPts val="0"/>
              </a:spcAft>
              <a:buSzPct val="100000"/>
              <a:buChar char="-"/>
            </a:pPr>
            <a:r>
              <a:rPr lang="en"/>
              <a:t>React + Vite were used for the authentication, dashboard,c</a:t>
            </a:r>
            <a:r>
              <a:rPr lang="en"/>
              <a:t>alendar</a:t>
            </a:r>
            <a:r>
              <a:rPr lang="en"/>
              <a:t>,friends,sources,profile, and onboarding pages</a:t>
            </a:r>
            <a:endParaRPr/>
          </a:p>
          <a:p>
            <a:pPr indent="-304959" lvl="0" marL="457200" rtl="0" algn="l">
              <a:spcBef>
                <a:spcPts val="0"/>
              </a:spcBef>
              <a:spcAft>
                <a:spcPts val="0"/>
              </a:spcAft>
              <a:buSzPct val="100000"/>
              <a:buChar char="-"/>
            </a:pPr>
            <a:r>
              <a:rPr lang="en"/>
              <a:t>Full Calendar is used for the calendar ui and  all its basic functionality such as the day/month/week toggle</a:t>
            </a:r>
            <a:endParaRPr/>
          </a:p>
          <a:p>
            <a:pPr indent="0" lvl="0" marL="0" rtl="0" algn="l">
              <a:spcBef>
                <a:spcPts val="1200"/>
              </a:spcBef>
              <a:spcAft>
                <a:spcPts val="0"/>
              </a:spcAft>
              <a:buClr>
                <a:schemeClr val="dk1"/>
              </a:buClr>
              <a:buSzPct val="84615"/>
              <a:buFont typeface="Arial"/>
              <a:buNone/>
            </a:pPr>
            <a:r>
              <a:rPr b="1" lang="en"/>
              <a:t>Data Services:</a:t>
            </a:r>
            <a:r>
              <a:rPr lang="en"/>
              <a:t> Client-side Javascript services connect the </a:t>
            </a:r>
            <a:r>
              <a:rPr lang="en"/>
              <a:t>frontend</a:t>
            </a:r>
            <a:r>
              <a:rPr lang="en"/>
              <a:t> to Supabase and the serverless functions</a:t>
            </a:r>
            <a:endParaRPr/>
          </a:p>
          <a:p>
            <a:pPr indent="0" lvl="0" marL="0" rtl="0" algn="l">
              <a:spcBef>
                <a:spcPts val="1200"/>
              </a:spcBef>
              <a:spcAft>
                <a:spcPts val="0"/>
              </a:spcAft>
              <a:buClr>
                <a:schemeClr val="dk1"/>
              </a:buClr>
              <a:buSzPct val="84615"/>
              <a:buFont typeface="Arial"/>
              <a:buNone/>
            </a:pPr>
            <a:r>
              <a:rPr b="1" lang="en"/>
              <a:t>Backend:</a:t>
            </a:r>
            <a:r>
              <a:rPr lang="en"/>
              <a:t> Supabase handles, authentication, the PostgreSQL database, storage, and Row Level Security</a:t>
            </a:r>
            <a:endParaRPr/>
          </a:p>
          <a:p>
            <a:pPr indent="0" lvl="0" marL="0" rtl="0" algn="l">
              <a:spcBef>
                <a:spcPts val="1200"/>
              </a:spcBef>
              <a:spcAft>
                <a:spcPts val="0"/>
              </a:spcAft>
              <a:buClr>
                <a:schemeClr val="dk1"/>
              </a:buClr>
              <a:buSzPct val="84615"/>
              <a:buFont typeface="Arial"/>
              <a:buNone/>
            </a:pPr>
            <a:r>
              <a:rPr b="1" lang="en"/>
              <a:t>Serverless Processing:</a:t>
            </a:r>
            <a:r>
              <a:rPr lang="en"/>
              <a:t> Supabase Edge function use Typescript and Deno to parse websites, create events, and generate daily digests</a:t>
            </a:r>
            <a:endParaRPr/>
          </a:p>
          <a:p>
            <a:pPr indent="0" lvl="0" marL="0" rtl="0" algn="l">
              <a:spcBef>
                <a:spcPts val="1200"/>
              </a:spcBef>
              <a:spcAft>
                <a:spcPts val="0"/>
              </a:spcAft>
              <a:buClr>
                <a:schemeClr val="dk1"/>
              </a:buClr>
              <a:buSzPct val="84615"/>
              <a:buFont typeface="Arial"/>
              <a:buNone/>
            </a:pPr>
            <a:r>
              <a:rPr b="1" lang="en"/>
              <a:t>AI </a:t>
            </a:r>
            <a:r>
              <a:rPr b="1" lang="en"/>
              <a:t>integration</a:t>
            </a:r>
            <a:r>
              <a:rPr b="1" lang="en"/>
              <a:t>: </a:t>
            </a:r>
            <a:r>
              <a:rPr lang="en"/>
              <a:t>The google Gemini API extracts event details from website content, helps generate digest summaries, and auto fills in calendar event information from sentences given to it </a:t>
            </a:r>
            <a:endParaRPr/>
          </a:p>
          <a:p>
            <a:pPr indent="0" lvl="0" marL="0" rtl="0" algn="l">
              <a:spcBef>
                <a:spcPts val="1200"/>
              </a:spcBef>
              <a:spcAft>
                <a:spcPts val="0"/>
              </a:spcAft>
              <a:buClr>
                <a:schemeClr val="dk1"/>
              </a:buClr>
              <a:buSzPct val="84615"/>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9"/>
          <p:cNvSpPr txBox="1"/>
          <p:nvPr>
            <p:ph type="title"/>
          </p:nvPr>
        </p:nvSpPr>
        <p:spPr>
          <a:xfrm>
            <a:off x="182200" y="653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management techniques you used</a:t>
            </a:r>
            <a:endParaRPr/>
          </a:p>
        </p:txBody>
      </p:sp>
      <p:sp>
        <p:nvSpPr>
          <p:cNvPr id="172" name="Google Shape;172;p29"/>
          <p:cNvSpPr txBox="1"/>
          <p:nvPr>
            <p:ph idx="1" type="body"/>
          </p:nvPr>
        </p:nvSpPr>
        <p:spPr>
          <a:xfrm>
            <a:off x="148125" y="1328425"/>
            <a:ext cx="8797800" cy="3650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-Scrum Framework for iterative development</a:t>
            </a:r>
            <a:endParaRPr/>
          </a:p>
          <a:p>
            <a:pPr indent="0" lvl="0" marL="0" rtl="0" algn="l">
              <a:spcBef>
                <a:spcPts val="1200"/>
              </a:spcBef>
              <a:spcAft>
                <a:spcPts val="0"/>
              </a:spcAft>
              <a:buNone/>
            </a:pPr>
            <a:r>
              <a:rPr lang="en"/>
              <a:t>-Sprint Planning to define goals and assign our user stories</a:t>
            </a:r>
            <a:endParaRPr/>
          </a:p>
          <a:p>
            <a:pPr indent="0" lvl="0" marL="0" rtl="0" algn="l">
              <a:spcBef>
                <a:spcPts val="1200"/>
              </a:spcBef>
              <a:spcAft>
                <a:spcPts val="0"/>
              </a:spcAft>
              <a:buNone/>
            </a:pPr>
            <a:r>
              <a:rPr lang="en"/>
              <a:t>- Scrum Meetings (1-3x per week) to discuss progress, blockers, and possible next steps</a:t>
            </a:r>
            <a:endParaRPr/>
          </a:p>
          <a:p>
            <a:pPr indent="0" lvl="0" marL="0" rtl="0" algn="l">
              <a:spcBef>
                <a:spcPts val="1200"/>
              </a:spcBef>
              <a:spcAft>
                <a:spcPts val="0"/>
              </a:spcAft>
              <a:buNone/>
            </a:pPr>
            <a:r>
              <a:rPr lang="en"/>
              <a:t>- Scrum board to track tasks </a:t>
            </a:r>
            <a:r>
              <a:rPr lang="en"/>
              <a:t>through</a:t>
            </a:r>
            <a:r>
              <a:rPr lang="en"/>
              <a:t> To Do-&gt; in Progress -&gt; Done (GIT)</a:t>
            </a:r>
            <a:endParaRPr/>
          </a:p>
          <a:p>
            <a:pPr indent="0" lvl="0" marL="0" rtl="0" algn="l">
              <a:spcBef>
                <a:spcPts val="1200"/>
              </a:spcBef>
              <a:spcAft>
                <a:spcPts val="0"/>
              </a:spcAft>
              <a:buNone/>
            </a:pPr>
            <a:r>
              <a:rPr lang="en"/>
              <a:t>-BurnUp Charts to monitor sprint progress and completed work </a:t>
            </a:r>
            <a:endParaRPr/>
          </a:p>
          <a:p>
            <a:pPr indent="0" lvl="0" marL="0" rtl="0" algn="l">
              <a:spcBef>
                <a:spcPts val="1200"/>
              </a:spcBef>
              <a:spcAft>
                <a:spcPts val="0"/>
              </a:spcAft>
              <a:buNone/>
            </a:pPr>
            <a:r>
              <a:rPr lang="en"/>
              <a:t>-GitHub for version control, pull requests, Scrum Board , and code reviews</a:t>
            </a:r>
            <a:endParaRPr/>
          </a:p>
          <a:p>
            <a:pPr indent="0" lvl="0" marL="0" rtl="0" algn="l">
              <a:spcBef>
                <a:spcPts val="1200"/>
              </a:spcBef>
              <a:spcAft>
                <a:spcPts val="0"/>
              </a:spcAft>
              <a:buNone/>
            </a:pPr>
            <a:r>
              <a:rPr lang="en"/>
              <a:t>- Task </a:t>
            </a:r>
            <a:r>
              <a:rPr lang="en"/>
              <a:t>Prioritization</a:t>
            </a:r>
            <a:r>
              <a:rPr lang="en"/>
              <a:t> using user stories and the Product backlog </a:t>
            </a:r>
            <a:endParaRPr/>
          </a:p>
          <a:p>
            <a:pPr indent="0" lvl="0" marL="0" rtl="0" algn="l">
              <a:spcBef>
                <a:spcPts val="1200"/>
              </a:spcBef>
              <a:spcAft>
                <a:spcPts val="0"/>
              </a:spcAft>
              <a:buNone/>
            </a:pPr>
            <a:r>
              <a:rPr lang="en"/>
              <a:t>-Sprint Reviews and Retrospectives to demonstrate completed features and improve team processes for possible next sprint</a:t>
            </a:r>
            <a:endParaRPr/>
          </a:p>
          <a:p>
            <a:pPr indent="0" lvl="0" marL="0" rtl="0" algn="l">
              <a:spcBef>
                <a:spcPts val="1200"/>
              </a:spcBef>
              <a:spcAft>
                <a:spcPts val="12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0"/>
          <p:cNvSpPr txBox="1"/>
          <p:nvPr>
            <p:ph type="title"/>
          </p:nvPr>
        </p:nvSpPr>
        <p:spPr>
          <a:xfrm>
            <a:off x="230675" y="7090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Things you</a:t>
            </a:r>
            <a:endParaRPr/>
          </a:p>
        </p:txBody>
      </p:sp>
      <p:sp>
        <p:nvSpPr>
          <p:cNvPr id="178" name="Google Shape;178;p30"/>
          <p:cNvSpPr txBox="1"/>
          <p:nvPr>
            <p:ph idx="1" type="body"/>
          </p:nvPr>
        </p:nvSpPr>
        <p:spPr>
          <a:xfrm>
            <a:off x="155050" y="1335350"/>
            <a:ext cx="8263200" cy="300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 Enjoyed </a:t>
            </a:r>
            <a:endParaRPr/>
          </a:p>
          <a:p>
            <a:pPr indent="-311150" lvl="0" marL="457200" rtl="0" algn="l">
              <a:spcBef>
                <a:spcPts val="1200"/>
              </a:spcBef>
              <a:spcAft>
                <a:spcPts val="0"/>
              </a:spcAft>
              <a:buSzPts val="1300"/>
              <a:buChar char="-"/>
            </a:pPr>
            <a:r>
              <a:rPr lang="en"/>
              <a:t>Creating an app</a:t>
            </a:r>
            <a:endParaRPr/>
          </a:p>
          <a:p>
            <a:pPr indent="-311150" lvl="0" marL="457200" rtl="0" algn="l">
              <a:spcBef>
                <a:spcPts val="0"/>
              </a:spcBef>
              <a:spcAft>
                <a:spcPts val="0"/>
              </a:spcAft>
              <a:buSzPts val="1300"/>
              <a:buChar char="-"/>
            </a:pPr>
            <a:r>
              <a:rPr lang="en"/>
              <a:t>Learning scrum framework and implementing the majority of it </a:t>
            </a:r>
            <a:endParaRPr/>
          </a:p>
          <a:p>
            <a:pPr indent="-311150" lvl="0" marL="457200" rtl="0" algn="l">
              <a:spcBef>
                <a:spcPts val="0"/>
              </a:spcBef>
              <a:spcAft>
                <a:spcPts val="0"/>
              </a:spcAft>
              <a:buSzPts val="1300"/>
              <a:buChar char="-"/>
            </a:pPr>
            <a:r>
              <a:rPr lang="en"/>
              <a:t>Learning more about agents and how to utilize them to code </a:t>
            </a:r>
            <a:endParaRPr/>
          </a:p>
          <a:p>
            <a:pPr indent="-311150" lvl="0" marL="457200" rtl="0" algn="l">
              <a:spcBef>
                <a:spcPts val="0"/>
              </a:spcBef>
              <a:spcAft>
                <a:spcPts val="0"/>
              </a:spcAft>
              <a:buSzPts val="1300"/>
              <a:buChar char="-"/>
            </a:pPr>
            <a:r>
              <a:rPr lang="en"/>
              <a:t>Using claude design </a:t>
            </a:r>
            <a:endParaRPr/>
          </a:p>
          <a:p>
            <a:pPr indent="0" lvl="0" marL="0" rtl="0" algn="l">
              <a:spcBef>
                <a:spcPts val="1200"/>
              </a:spcBef>
              <a:spcAft>
                <a:spcPts val="0"/>
              </a:spcAft>
              <a:buClr>
                <a:schemeClr val="dk1"/>
              </a:buClr>
              <a:buSzPts val="1100"/>
              <a:buFont typeface="Arial"/>
              <a:buNone/>
            </a:pPr>
            <a:r>
              <a:rPr lang="en"/>
              <a:t>Didn’t Enjoy</a:t>
            </a:r>
            <a:endParaRPr/>
          </a:p>
          <a:p>
            <a:pPr indent="-311150" lvl="0" marL="457200" rtl="0" algn="l">
              <a:spcBef>
                <a:spcPts val="1200"/>
              </a:spcBef>
              <a:spcAft>
                <a:spcPts val="0"/>
              </a:spcAft>
              <a:buSzPts val="1300"/>
              <a:buChar char="-"/>
            </a:pPr>
            <a:r>
              <a:rPr lang="en"/>
              <a:t>Uncertainty of working in a group </a:t>
            </a:r>
            <a:endParaRPr/>
          </a:p>
          <a:p>
            <a:pPr indent="-311150" lvl="0" marL="457200" rtl="0" algn="l">
              <a:spcBef>
                <a:spcPts val="0"/>
              </a:spcBef>
              <a:spcAft>
                <a:spcPts val="0"/>
              </a:spcAft>
              <a:buSzPts val="1300"/>
              <a:buChar char="-"/>
            </a:pPr>
            <a:r>
              <a:rPr lang="en"/>
              <a:t>Tedious making of </a:t>
            </a:r>
            <a:r>
              <a:rPr lang="en"/>
              <a:t>acceptance</a:t>
            </a:r>
            <a:r>
              <a:rPr lang="en"/>
              <a:t> criteria even though it was </a:t>
            </a:r>
            <a:r>
              <a:rPr lang="en"/>
              <a:t>useful</a:t>
            </a:r>
            <a:r>
              <a:rPr lang="en"/>
              <a:t> </a:t>
            </a:r>
            <a:endParaRPr/>
          </a:p>
          <a:p>
            <a:pPr indent="0" lvl="0" marL="0" rtl="0" algn="l">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1"/>
          <p:cNvSpPr txBox="1"/>
          <p:nvPr>
            <p:ph type="title"/>
          </p:nvPr>
        </p:nvSpPr>
        <p:spPr>
          <a:xfrm>
            <a:off x="203550" y="6674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Lessons learned</a:t>
            </a:r>
            <a:endParaRPr/>
          </a:p>
        </p:txBody>
      </p:sp>
      <p:sp>
        <p:nvSpPr>
          <p:cNvPr id="184" name="Google Shape;184;p31"/>
          <p:cNvSpPr txBox="1"/>
          <p:nvPr>
            <p:ph idx="1" type="body"/>
          </p:nvPr>
        </p:nvSpPr>
        <p:spPr>
          <a:xfrm>
            <a:off x="2939825" y="627900"/>
            <a:ext cx="5841300" cy="10260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605"/>
              <a:buFont typeface="Arial"/>
              <a:buNone/>
            </a:pPr>
            <a:r>
              <a:rPr lang="en" sz="1215"/>
              <a:t>– what worked/what you will keep doing</a:t>
            </a:r>
            <a:endParaRPr sz="1215"/>
          </a:p>
          <a:p>
            <a:pPr indent="0" lvl="0" marL="0" rtl="0" algn="l">
              <a:lnSpc>
                <a:spcPct val="95000"/>
              </a:lnSpc>
              <a:spcBef>
                <a:spcPts val="1200"/>
              </a:spcBef>
              <a:spcAft>
                <a:spcPts val="0"/>
              </a:spcAft>
              <a:buClr>
                <a:schemeClr val="dk1"/>
              </a:buClr>
              <a:buSzPts val="605"/>
              <a:buFont typeface="Arial"/>
              <a:buNone/>
            </a:pPr>
            <a:r>
              <a:rPr lang="en" sz="1215"/>
              <a:t>– what didn’t work/what you will stop doing</a:t>
            </a:r>
            <a:endParaRPr sz="1215"/>
          </a:p>
          <a:p>
            <a:pPr indent="0" lvl="0" marL="0" rtl="0" algn="l">
              <a:lnSpc>
                <a:spcPct val="95000"/>
              </a:lnSpc>
              <a:spcBef>
                <a:spcPts val="1200"/>
              </a:spcBef>
              <a:spcAft>
                <a:spcPts val="0"/>
              </a:spcAft>
              <a:buClr>
                <a:schemeClr val="dk1"/>
              </a:buClr>
              <a:buSzPts val="605"/>
              <a:buFont typeface="Arial"/>
              <a:buNone/>
            </a:pPr>
            <a:r>
              <a:rPr lang="en" sz="1215"/>
              <a:t>– things you wished you had done (that you would start doing in the future)</a:t>
            </a:r>
            <a:endParaRPr sz="1215"/>
          </a:p>
          <a:p>
            <a:pPr indent="0" lvl="0" marL="0" rtl="0" algn="l">
              <a:lnSpc>
                <a:spcPct val="95000"/>
              </a:lnSpc>
              <a:spcBef>
                <a:spcPts val="1200"/>
              </a:spcBef>
              <a:spcAft>
                <a:spcPts val="1200"/>
              </a:spcAft>
              <a:buSzPts val="605"/>
              <a:buNone/>
            </a:pPr>
            <a:r>
              <a:t/>
            </a:r>
            <a:endParaRPr sz="715"/>
          </a:p>
        </p:txBody>
      </p:sp>
      <p:sp>
        <p:nvSpPr>
          <p:cNvPr id="185" name="Google Shape;185;p31"/>
          <p:cNvSpPr txBox="1"/>
          <p:nvPr/>
        </p:nvSpPr>
        <p:spPr>
          <a:xfrm>
            <a:off x="113500" y="1757900"/>
            <a:ext cx="8977800" cy="303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300"/>
              <a:t>What worked / what we will keep doing</a:t>
            </a:r>
            <a:endParaRPr b="1" sz="1300"/>
          </a:p>
          <a:p>
            <a:pPr indent="-298450" lvl="0" marL="457200" rtl="0" algn="l">
              <a:lnSpc>
                <a:spcPct val="115000"/>
              </a:lnSpc>
              <a:spcBef>
                <a:spcPts val="1200"/>
              </a:spcBef>
              <a:spcAft>
                <a:spcPts val="0"/>
              </a:spcAft>
              <a:buSzPts val="1100"/>
              <a:buChar char="●"/>
            </a:pPr>
            <a:r>
              <a:rPr lang="en" sz="1100"/>
              <a:t>Using pull requests and reviewing changes before merging helped us combine our work more safely and reduced major merge conflicts.</a:t>
            </a:r>
            <a:endParaRPr sz="1100"/>
          </a:p>
          <a:p>
            <a:pPr indent="-298450" lvl="0" marL="457200" rtl="0" algn="l">
              <a:lnSpc>
                <a:spcPct val="115000"/>
              </a:lnSpc>
              <a:spcBef>
                <a:spcPts val="0"/>
              </a:spcBef>
              <a:spcAft>
                <a:spcPts val="0"/>
              </a:spcAft>
              <a:buSzPts val="1100"/>
              <a:buChar char="●"/>
            </a:pPr>
            <a:r>
              <a:rPr lang="en" sz="1100"/>
              <a:t>Dividing larger features into separate tasks made it easier for each person to focus on their own work.</a:t>
            </a:r>
            <a:endParaRPr sz="1100"/>
          </a:p>
          <a:p>
            <a:pPr indent="0" lvl="0" marL="0" rtl="0" algn="l">
              <a:lnSpc>
                <a:spcPct val="115000"/>
              </a:lnSpc>
              <a:spcBef>
                <a:spcPts val="1400"/>
              </a:spcBef>
              <a:spcAft>
                <a:spcPts val="0"/>
              </a:spcAft>
              <a:buNone/>
            </a:pPr>
            <a:r>
              <a:rPr b="1" lang="en" sz="1300"/>
              <a:t>What didn’t work / what we will stop doing</a:t>
            </a:r>
            <a:endParaRPr b="1" sz="1300"/>
          </a:p>
          <a:p>
            <a:pPr indent="-298450" lvl="0" marL="457200" rtl="0" algn="l">
              <a:lnSpc>
                <a:spcPct val="115000"/>
              </a:lnSpc>
              <a:spcBef>
                <a:spcPts val="1200"/>
              </a:spcBef>
              <a:spcAft>
                <a:spcPts val="0"/>
              </a:spcAft>
              <a:buSzPts val="1100"/>
              <a:buChar char="●"/>
            </a:pPr>
            <a:r>
              <a:rPr lang="en" sz="1100"/>
              <a:t>Waiting until late in the sprint to clarify tasks created confusion and unnecessary rework.</a:t>
            </a:r>
            <a:endParaRPr sz="1100"/>
          </a:p>
          <a:p>
            <a:pPr indent="-298450" lvl="0" marL="457200" rtl="0" algn="l">
              <a:lnSpc>
                <a:spcPct val="115000"/>
              </a:lnSpc>
              <a:spcBef>
                <a:spcPts val="0"/>
              </a:spcBef>
              <a:spcAft>
                <a:spcPts val="0"/>
              </a:spcAft>
              <a:buSzPts val="1100"/>
              <a:buChar char="●"/>
            </a:pPr>
            <a:r>
              <a:rPr lang="en" sz="1100"/>
              <a:t>Poor communication at certain points made it harder to coordinate changes and keep everyone on the same page.</a:t>
            </a:r>
            <a:endParaRPr sz="1100"/>
          </a:p>
          <a:p>
            <a:pPr indent="0" lvl="0" marL="0" rtl="0" algn="l">
              <a:lnSpc>
                <a:spcPct val="115000"/>
              </a:lnSpc>
              <a:spcBef>
                <a:spcPts val="1400"/>
              </a:spcBef>
              <a:spcAft>
                <a:spcPts val="0"/>
              </a:spcAft>
              <a:buNone/>
            </a:pPr>
            <a:r>
              <a:rPr b="1" lang="en" sz="1300"/>
              <a:t>What we wished we had done / what we will start doing</a:t>
            </a:r>
            <a:endParaRPr b="1" sz="1300"/>
          </a:p>
          <a:p>
            <a:pPr indent="-298450" lvl="0" marL="457200" rtl="0" algn="l">
              <a:lnSpc>
                <a:spcPct val="115000"/>
              </a:lnSpc>
              <a:spcBef>
                <a:spcPts val="1200"/>
              </a:spcBef>
              <a:spcAft>
                <a:spcPts val="0"/>
              </a:spcAft>
              <a:buSzPts val="1100"/>
              <a:buChar char="●"/>
            </a:pPr>
            <a:r>
              <a:rPr lang="en" sz="1100"/>
              <a:t>Define clear acceptance criteria for every user story at the beginning of each sprint.</a:t>
            </a:r>
            <a:endParaRPr sz="1100"/>
          </a:p>
          <a:p>
            <a:pPr indent="-298450" lvl="0" marL="457200" rtl="0" algn="l">
              <a:lnSpc>
                <a:spcPct val="115000"/>
              </a:lnSpc>
              <a:spcBef>
                <a:spcPts val="0"/>
              </a:spcBef>
              <a:spcAft>
                <a:spcPts val="0"/>
              </a:spcAft>
              <a:buSzPts val="1100"/>
              <a:buChar char="●"/>
            </a:pPr>
            <a:r>
              <a:rPr lang="en" sz="1100"/>
              <a:t>Test features earlier and more often instead of leaving most integration testing until the end.</a:t>
            </a:r>
            <a:endParaRPr sz="1300">
              <a:solidFill>
                <a:schemeClr val="accent1"/>
              </a:solidFill>
              <a:latin typeface="Lato"/>
              <a:ea typeface="Lato"/>
              <a:cs typeface="Lato"/>
              <a:sym typeface="La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2"/>
          <p:cNvSpPr txBox="1"/>
          <p:nvPr>
            <p:ph type="title"/>
          </p:nvPr>
        </p:nvSpPr>
        <p:spPr>
          <a:xfrm>
            <a:off x="175250" y="6467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Biggest challenges</a:t>
            </a:r>
            <a:endParaRPr/>
          </a:p>
        </p:txBody>
      </p:sp>
      <p:sp>
        <p:nvSpPr>
          <p:cNvPr id="191" name="Google Shape;191;p32"/>
          <p:cNvSpPr txBox="1"/>
          <p:nvPr>
            <p:ph idx="1" type="body"/>
          </p:nvPr>
        </p:nvSpPr>
        <p:spPr>
          <a:xfrm>
            <a:off x="175250" y="1383825"/>
            <a:ext cx="8413800" cy="354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624"/>
              <a:t>Regarding the final project:</a:t>
            </a:r>
            <a:endParaRPr b="1" sz="1624"/>
          </a:p>
          <a:p>
            <a:pPr indent="-311150" lvl="0" marL="457200" rtl="0" algn="l">
              <a:spcBef>
                <a:spcPts val="1200"/>
              </a:spcBef>
              <a:spcAft>
                <a:spcPts val="0"/>
              </a:spcAft>
              <a:buSzPts val="1300"/>
              <a:buChar char="-"/>
            </a:pPr>
            <a:r>
              <a:rPr lang="en"/>
              <a:t> We ran out of time to implement every feature we originally planned.</a:t>
            </a:r>
            <a:endParaRPr/>
          </a:p>
          <a:p>
            <a:pPr indent="-311150" lvl="0" marL="457200" rtl="0" algn="l">
              <a:spcBef>
                <a:spcPts val="0"/>
              </a:spcBef>
              <a:spcAft>
                <a:spcPts val="0"/>
              </a:spcAft>
              <a:buSzPts val="1300"/>
              <a:buChar char="-"/>
            </a:pPr>
            <a:r>
              <a:rPr lang="en"/>
              <a:t>Some features, such as Instagram and Discord event integration, were more complicated than expected.</a:t>
            </a:r>
            <a:endParaRPr/>
          </a:p>
          <a:p>
            <a:pPr indent="-311150" lvl="0" marL="457200" rtl="0" algn="l">
              <a:spcBef>
                <a:spcPts val="0"/>
              </a:spcBef>
              <a:spcAft>
                <a:spcPts val="0"/>
              </a:spcAft>
              <a:buSzPts val="1300"/>
              <a:buChar char="-"/>
            </a:pPr>
            <a:r>
              <a:rPr lang="en"/>
              <a:t>We also had to prioritize core functionality over fixing every smaller bug.</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rPr b="1" lang="en" sz="1624"/>
              <a:t>Regarding your development process:</a:t>
            </a:r>
            <a:endParaRPr b="1" sz="1624"/>
          </a:p>
          <a:p>
            <a:pPr indent="-311150" lvl="0" marL="457200" rtl="0" algn="l">
              <a:spcBef>
                <a:spcPts val="1200"/>
              </a:spcBef>
              <a:spcAft>
                <a:spcPts val="0"/>
              </a:spcAft>
              <a:buSzPts val="1300"/>
              <a:buChar char="-"/>
            </a:pPr>
            <a:r>
              <a:rPr lang="en"/>
              <a:t>Coordinating work between four people and making sure everyone’s code worked together.</a:t>
            </a:r>
            <a:endParaRPr/>
          </a:p>
          <a:p>
            <a:pPr indent="-311150" lvl="0" marL="457200" rtl="0" algn="l">
              <a:spcBef>
                <a:spcPts val="0"/>
              </a:spcBef>
              <a:spcAft>
                <a:spcPts val="0"/>
              </a:spcAft>
              <a:buSzPts val="1300"/>
              <a:buChar char="-"/>
            </a:pPr>
            <a:r>
              <a:rPr lang="en"/>
              <a:t>Dealing with merge conflicts when multiple people edited the same files.</a:t>
            </a:r>
            <a:endParaRPr/>
          </a:p>
          <a:p>
            <a:pPr indent="-311150" lvl="0" marL="457200" rtl="0" algn="l">
              <a:spcBef>
                <a:spcPts val="0"/>
              </a:spcBef>
              <a:spcAft>
                <a:spcPts val="0"/>
              </a:spcAft>
              <a:buSzPts val="1300"/>
              <a:buChar char="-"/>
            </a:pPr>
            <a:r>
              <a:rPr lang="en"/>
              <a:t>Keeping communication consistent and making sure tasks were completed on time.</a:t>
            </a:r>
            <a:endParaRPr/>
          </a:p>
          <a:p>
            <a:pPr indent="-311150" lvl="0" marL="457200" rtl="0" algn="l">
              <a:spcBef>
                <a:spcPts val="0"/>
              </a:spcBef>
              <a:spcAft>
                <a:spcPts val="0"/>
              </a:spcAft>
              <a:buSzPts val="1300"/>
              <a:buChar char="-"/>
            </a:pPr>
            <a:r>
              <a:rPr lang="en"/>
              <a:t>Balancing new features, testing, documentation, and presentation preparation near the end of the project.</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